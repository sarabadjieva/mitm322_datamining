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9" r:id="rId3"/>
    <p:sldId id="263" r:id="rId4"/>
    <p:sldId id="257" r:id="rId5"/>
    <p:sldId id="261" r:id="rId6"/>
    <p:sldId id="262" r:id="rId7"/>
    <p:sldId id="264" r:id="rId8"/>
    <p:sldId id="267" r:id="rId9"/>
    <p:sldId id="265" r:id="rId10"/>
    <p:sldId id="268" r:id="rId11"/>
    <p:sldId id="266" r:id="rId12"/>
    <p:sldId id="258" r:id="rId13"/>
    <p:sldId id="269" r:id="rId14"/>
    <p:sldId id="260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37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6AD6EE87-EBD5-4F12-A48A-63ACA297AC8F}" type="datetimeFigureOut">
              <a:rPr lang="en-US" dirty="0"/>
              <a:t>6/11/2026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13" name="Straight Connector 12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3794B-289A-4A80-97D7-111025398D45}" type="datetimeFigureOut">
              <a:rPr lang="en-US" dirty="0"/>
              <a:t>6/11/2026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61015F-7CC6-4D0A-9D87-873EA4C304CC}" type="datetimeFigureOut">
              <a:rPr lang="en-US" dirty="0"/>
              <a:t>6/11/2026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6A301-0538-44EC-B09D-202E1042A48B}" type="datetimeFigureOut">
              <a:rPr lang="en-US" dirty="0"/>
              <a:t>6/11/2026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2">
                    <a:lumMod val="75000"/>
                  </a:schemeClr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9574A-8875-45EF-8EA2-3CAA0F7ABC4C}" type="datetimeFigureOut">
              <a:rPr lang="en-US" dirty="0"/>
              <a:t>6/11/2026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F4D4C-5367-4C26-9E2B-D8088D7FCA81}" type="datetimeFigureOut">
              <a:rPr lang="en-US" dirty="0"/>
              <a:t>6/11/2026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91E96-98B0-4413-9547-46F3504108EF}" type="datetimeFigureOut">
              <a:rPr lang="en-US" dirty="0"/>
              <a:t>6/11/2026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C68B11-C5A8-448C-8CE9-B1A273C79CFC}" type="datetimeFigureOut">
              <a:rPr lang="en-US" dirty="0"/>
              <a:t>6/11/2026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2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16CA0-919D-4A49-9C8A-62FDFB3A5183}" type="datetimeFigureOut">
              <a:rPr lang="en-US" dirty="0"/>
              <a:t>6/11/2026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E5644-1E61-4311-A31E-84CB9C7AA8A9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73815-2707-4475-8F1A-B873CB631BB4}" type="datetimeFigureOut">
              <a:rPr lang="en-US" dirty="0"/>
              <a:t>6/11/2026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4AFB99-0EAB-4182-AFF8-E214C82A68F6}" type="datetimeFigureOut">
              <a:rPr lang="en-US" dirty="0"/>
              <a:t>6/11/2026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90298CD5-6C1E-4009-B41F-6DF62E31D3BE}" type="datetimeFigureOut">
              <a:rPr lang="en-US" dirty="0"/>
              <a:pPr/>
              <a:t>6/11/2026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2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bg-BG" dirty="0" smtClean="0"/>
              <a:t>Анализ на връзката между бракове и раждания в </a:t>
            </a:r>
            <a:r>
              <a:rPr lang="bg-BG" dirty="0" err="1" smtClean="0"/>
              <a:t>българия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6932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Идея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97444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bg-BG" dirty="0" smtClean="0"/>
              <a:t>Много исках да използвам </a:t>
            </a:r>
            <a:r>
              <a:rPr lang="en-US" dirty="0" err="1" smtClean="0"/>
              <a:t>DataSpell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5974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Обработка на данни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3147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Сурови данни от </a:t>
            </a:r>
            <a:r>
              <a:rPr lang="bg-BG" dirty="0" err="1" smtClean="0"/>
              <a:t>нси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09213" y="2661706"/>
            <a:ext cx="4577404" cy="822960"/>
          </a:xfrm>
        </p:spPr>
        <p:txBody>
          <a:bodyPr/>
          <a:lstStyle/>
          <a:p>
            <a:r>
              <a:rPr lang="bg-BG" dirty="0" smtClean="0"/>
              <a:t>Сключени бракове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24128" y="5071775"/>
            <a:ext cx="4577404" cy="822960"/>
          </a:xfrm>
        </p:spPr>
        <p:txBody>
          <a:bodyPr/>
          <a:lstStyle/>
          <a:p>
            <a:pPr algn="r"/>
            <a:r>
              <a:rPr lang="bg-BG" dirty="0" err="1" smtClean="0"/>
              <a:t>Живородени</a:t>
            </a:r>
            <a:r>
              <a:rPr lang="bg-BG" dirty="0" smtClean="0"/>
              <a:t> брачни и извънбрачни деца</a:t>
            </a:r>
            <a:endParaRPr lang="en-US" dirty="0"/>
          </a:p>
        </p:txBody>
      </p:sp>
      <p:pic>
        <p:nvPicPr>
          <p:cNvPr id="10" name="Content Placeholder 9"/>
          <p:cNvPicPr>
            <a:picLocks noGrp="1" noChangeAspect="1"/>
          </p:cNvPicPr>
          <p:nvPr>
            <p:ph sz="quarter" idx="4"/>
          </p:nvPr>
        </p:nvPicPr>
        <p:blipFill>
          <a:blip r:embed="rId2"/>
          <a:stretch>
            <a:fillRect/>
          </a:stretch>
        </p:blipFill>
        <p:spPr>
          <a:xfrm>
            <a:off x="5884164" y="4268704"/>
            <a:ext cx="5836073" cy="2429101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825" y="1928097"/>
            <a:ext cx="6078388" cy="2290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07230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предизвикателства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bg-BG" dirty="0" smtClean="0"/>
              <a:t>- Не е удобен формат за обработка</a:t>
            </a:r>
            <a:endParaRPr lang="en-US" dirty="0"/>
          </a:p>
          <a:p>
            <a:pPr marL="0" indent="0">
              <a:buNone/>
            </a:pPr>
            <a:r>
              <a:rPr lang="bg-BG" dirty="0" smtClean="0"/>
              <a:t>Има начални редове</a:t>
            </a:r>
          </a:p>
          <a:p>
            <a:pPr marL="128016" lvl="1" indent="0">
              <a:buNone/>
            </a:pPr>
            <a:r>
              <a:rPr lang="bg-BG" dirty="0" smtClean="0"/>
              <a:t>Данните не са подредени</a:t>
            </a:r>
          </a:p>
          <a:p>
            <a:pPr marL="128016" lvl="1" indent="0">
              <a:buNone/>
            </a:pPr>
            <a:r>
              <a:rPr lang="bg-BG" dirty="0" smtClean="0"/>
              <a:t>Стойностите отговарят на два фактора</a:t>
            </a:r>
          </a:p>
          <a:p>
            <a:pPr marL="128016" lvl="1" indent="0">
              <a:buNone/>
            </a:pPr>
            <a:r>
              <a:rPr lang="bg-BG" dirty="0" smtClean="0"/>
              <a:t>Включени общини</a:t>
            </a:r>
          </a:p>
          <a:p>
            <a:pPr marL="128016" lvl="1" indent="0">
              <a:buNone/>
            </a:pPr>
            <a:r>
              <a:rPr lang="bg-BG" dirty="0" smtClean="0"/>
              <a:t>Областите имат община със същото име</a:t>
            </a:r>
          </a:p>
          <a:p>
            <a:pPr marL="128016" lvl="1" indent="0">
              <a:buNone/>
            </a:pPr>
            <a:r>
              <a:rPr lang="bg-BG" dirty="0" smtClean="0"/>
              <a:t>Различни метрики</a:t>
            </a:r>
            <a:endParaRPr lang="en-US" dirty="0" smtClean="0"/>
          </a:p>
          <a:p>
            <a:pPr marL="128016" lvl="1" indent="0">
              <a:buNone/>
            </a:pPr>
            <a:r>
              <a:rPr lang="en-US" dirty="0" err="1" smtClean="0"/>
              <a:t>DataSpell</a:t>
            </a:r>
            <a:r>
              <a:rPr lang="en-US" dirty="0" smtClean="0"/>
              <a:t> + python</a:t>
            </a:r>
            <a:r>
              <a:rPr lang="bg-BG" dirty="0" smtClean="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96741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Решение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bg-BG" dirty="0" smtClean="0"/>
              <a:t>Два отделни </a:t>
            </a:r>
            <a:r>
              <a:rPr lang="bg-BG" dirty="0" err="1" smtClean="0"/>
              <a:t>парсъра</a:t>
            </a:r>
            <a:endParaRPr lang="bg-BG" dirty="0" smtClean="0"/>
          </a:p>
          <a:p>
            <a:r>
              <a:rPr lang="bg-BG" dirty="0" smtClean="0"/>
              <a:t>Помощни методи</a:t>
            </a:r>
          </a:p>
          <a:p>
            <a:r>
              <a:rPr lang="bg-BG" dirty="0" err="1" smtClean="0"/>
              <a:t>Дебъг</a:t>
            </a:r>
            <a:r>
              <a:rPr lang="bg-BG" dirty="0" smtClean="0"/>
              <a:t> </a:t>
            </a:r>
            <a:r>
              <a:rPr lang="bg-BG" dirty="0" err="1" smtClean="0"/>
              <a:t>аутпут</a:t>
            </a:r>
            <a:endParaRPr lang="bg-BG" dirty="0" smtClean="0"/>
          </a:p>
          <a:p>
            <a:r>
              <a:rPr lang="bg-BG" dirty="0" smtClean="0"/>
              <a:t>Филтриране на общини</a:t>
            </a:r>
            <a:endParaRPr lang="en-US" dirty="0" smtClean="0"/>
          </a:p>
          <a:p>
            <a:r>
              <a:rPr lang="bg-BG" dirty="0" smtClean="0"/>
              <a:t>Разделяне на </a:t>
            </a:r>
            <a:r>
              <a:rPr lang="en-US" dirty="0" smtClean="0"/>
              <a:t>csv </a:t>
            </a:r>
            <a:r>
              <a:rPr lang="bg-BG" dirty="0" smtClean="0"/>
              <a:t>по метрики</a:t>
            </a:r>
          </a:p>
          <a:p>
            <a:r>
              <a:rPr lang="bg-BG" dirty="0" smtClean="0"/>
              <a:t>Обща метрика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471509"/>
            <a:ext cx="2980113" cy="5972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6840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Два различни </a:t>
            </a:r>
            <a:r>
              <a:rPr lang="bg-BG" dirty="0" err="1" smtClean="0"/>
              <a:t>парсъра</a:t>
            </a:r>
            <a:endParaRPr lang="en-US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29740" y="1990526"/>
            <a:ext cx="5249008" cy="2848373"/>
          </a:xfrm>
          <a:prstGeom prst="rect">
            <a:avLst/>
          </a:prstGeom>
        </p:spPr>
      </p:pic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9244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Филтриране</a:t>
            </a:r>
            <a:endParaRPr lang="en-US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147335" y="822325"/>
            <a:ext cx="4813817" cy="5184775"/>
          </a:xfrm>
          <a:prstGeom prst="rect">
            <a:avLst/>
          </a:prstGeom>
        </p:spPr>
      </p:pic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5997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Marriages Parser</a:t>
            </a:r>
            <a:endParaRPr lang="en-US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023938" y="2805130"/>
            <a:ext cx="4754562" cy="2984465"/>
          </a:xfrm>
          <a:prstGeom prst="rect">
            <a:avLst/>
          </a:prstGeom>
        </p:spPr>
      </p:pic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85223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Различни файлове</a:t>
            </a:r>
            <a:endParaRPr lang="en-US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715000" y="976760"/>
            <a:ext cx="5678488" cy="4875905"/>
          </a:xfrm>
          <a:prstGeom prst="rect">
            <a:avLst/>
          </a:prstGeom>
        </p:spPr>
      </p:pic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90742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Анализ на данни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6215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предизвикателства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61577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Заключение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15809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rgbClr val="2E2B21"/>
      </a:dk1>
      <a:lt1>
        <a:srgbClr val="FFFFFF"/>
      </a:lt1>
      <a:dk2>
        <a:srgbClr val="605B4F"/>
      </a:dk2>
      <a:lt2>
        <a:srgbClr val="D8D6BE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4825F1AF-8DBC-4E3D-9F3D-688338DA83F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167</TotalTime>
  <Words>93</Words>
  <Application>Microsoft Office PowerPoint</Application>
  <PresentationFormat>Widescreen</PresentationFormat>
  <Paragraphs>30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Calibri</vt:lpstr>
      <vt:lpstr>Tw Cen MT</vt:lpstr>
      <vt:lpstr>Tw Cen MT Condensed</vt:lpstr>
      <vt:lpstr>Wingdings 3</vt:lpstr>
      <vt:lpstr>Integral</vt:lpstr>
      <vt:lpstr>Анализ на връзката между бракове и раждания в българия</vt:lpstr>
      <vt:lpstr>Идея</vt:lpstr>
      <vt:lpstr>PowerPoint Presentation</vt:lpstr>
      <vt:lpstr>Обработка на данни</vt:lpstr>
      <vt:lpstr>Сурови данни от нси</vt:lpstr>
      <vt:lpstr>предизвикателства</vt:lpstr>
      <vt:lpstr>Решение</vt:lpstr>
      <vt:lpstr>Два различни парсъра</vt:lpstr>
      <vt:lpstr>Филтриране</vt:lpstr>
      <vt:lpstr>Marriages Parser</vt:lpstr>
      <vt:lpstr>Различни файлове</vt:lpstr>
      <vt:lpstr>Анализ на данни</vt:lpstr>
      <vt:lpstr>предизвикателства</vt:lpstr>
      <vt:lpstr>Заключение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Анализ на корелацията между бракове и раждане</dc:title>
  <dc:creator>Stefani Arabadjieva</dc:creator>
  <cp:lastModifiedBy>Stefani Arabadjieva</cp:lastModifiedBy>
  <cp:revision>11</cp:revision>
  <dcterms:created xsi:type="dcterms:W3CDTF">2026-06-11T17:56:23Z</dcterms:created>
  <dcterms:modified xsi:type="dcterms:W3CDTF">2026-06-11T20:43:35Z</dcterms:modified>
</cp:coreProperties>
</file>