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9" r:id="rId4"/>
    <p:sldId id="263" r:id="rId5"/>
    <p:sldId id="257" r:id="rId6"/>
    <p:sldId id="261" r:id="rId7"/>
    <p:sldId id="262" r:id="rId8"/>
    <p:sldId id="264" r:id="rId9"/>
    <p:sldId id="267" r:id="rId10"/>
    <p:sldId id="265" r:id="rId11"/>
    <p:sldId id="268" r:id="rId12"/>
    <p:sldId id="266" r:id="rId13"/>
    <p:sldId id="258" r:id="rId14"/>
    <p:sldId id="272" r:id="rId15"/>
    <p:sldId id="270" r:id="rId16"/>
    <p:sldId id="271" r:id="rId17"/>
    <p:sldId id="273" r:id="rId18"/>
    <p:sldId id="274" r:id="rId19"/>
    <p:sldId id="275" r:id="rId20"/>
    <p:sldId id="269" r:id="rId21"/>
    <p:sldId id="26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Анализ на връзката между бракове и раждания в </a:t>
            </a:r>
            <a:r>
              <a:rPr lang="bg-BG" dirty="0" err="1" smtClean="0"/>
              <a:t>българия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Идея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Много исках да използвам </a:t>
            </a:r>
            <a:r>
              <a:rPr lang="en-US" dirty="0" err="1" smtClean="0"/>
              <a:t>DataSpell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Обработка на данни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Сурови данни от </a:t>
            </a:r>
            <a:r>
              <a:rPr lang="bg-BG" dirty="0" err="1" smtClean="0"/>
              <a:t>нси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9213" y="2661706"/>
            <a:ext cx="4577404" cy="822960"/>
          </a:xfrm>
        </p:spPr>
        <p:txBody>
          <a:bodyPr/>
          <a:lstStyle/>
          <a:p>
            <a:r>
              <a:rPr lang="bg-BG" dirty="0" smtClean="0"/>
              <a:t>Сключени бракове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24128" y="5071775"/>
            <a:ext cx="4577404" cy="822960"/>
          </a:xfrm>
        </p:spPr>
        <p:txBody>
          <a:bodyPr/>
          <a:lstStyle/>
          <a:p>
            <a:pPr algn="r"/>
            <a:r>
              <a:rPr lang="bg-BG" dirty="0" err="1" smtClean="0"/>
              <a:t>Живородени</a:t>
            </a:r>
            <a:r>
              <a:rPr lang="bg-BG" dirty="0" smtClean="0"/>
              <a:t> брачни и извънбрачни деца</a:t>
            </a:r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1"/>
          <a:stretch>
            <a:fillRect/>
          </a:stretch>
        </p:blipFill>
        <p:spPr>
          <a:xfrm>
            <a:off x="5884164" y="4268704"/>
            <a:ext cx="5836073" cy="242910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25" y="1928097"/>
            <a:ext cx="6078388" cy="22901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предизвикателства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 smtClean="0"/>
              <a:t>- Не е удобен формат за обработка</a:t>
            </a:r>
            <a:endParaRPr lang="en-US" dirty="0"/>
          </a:p>
          <a:p>
            <a:pPr marL="0" indent="0">
              <a:buNone/>
            </a:pPr>
            <a:r>
              <a:rPr lang="bg-BG" dirty="0" smtClean="0"/>
              <a:t>Има начални редове</a:t>
            </a:r>
            <a:endParaRPr lang="bg-BG" dirty="0" smtClean="0"/>
          </a:p>
          <a:p>
            <a:pPr marL="128270" lvl="1" indent="0">
              <a:buNone/>
            </a:pPr>
            <a:r>
              <a:rPr lang="bg-BG" dirty="0" smtClean="0"/>
              <a:t>Данните не са подредени</a:t>
            </a:r>
            <a:endParaRPr lang="bg-BG" dirty="0" smtClean="0"/>
          </a:p>
          <a:p>
            <a:pPr marL="128270" lvl="1" indent="0">
              <a:buNone/>
            </a:pPr>
            <a:r>
              <a:rPr lang="bg-BG" dirty="0" smtClean="0"/>
              <a:t>Стойностите отговарят на два фактора</a:t>
            </a:r>
            <a:endParaRPr lang="bg-BG" dirty="0" smtClean="0"/>
          </a:p>
          <a:p>
            <a:pPr marL="128270" lvl="1" indent="0">
              <a:buNone/>
            </a:pPr>
            <a:r>
              <a:rPr lang="bg-BG" dirty="0" smtClean="0"/>
              <a:t>Включени общини</a:t>
            </a:r>
            <a:endParaRPr lang="bg-BG" dirty="0" smtClean="0"/>
          </a:p>
          <a:p>
            <a:pPr marL="128270" lvl="1" indent="0">
              <a:buNone/>
            </a:pPr>
            <a:r>
              <a:rPr lang="bg-BG" dirty="0" smtClean="0"/>
              <a:t>Областите имат община със същото име</a:t>
            </a:r>
            <a:endParaRPr lang="bg-BG" dirty="0" smtClean="0"/>
          </a:p>
          <a:p>
            <a:pPr marL="128270" lvl="1" indent="0">
              <a:buNone/>
            </a:pPr>
            <a:r>
              <a:rPr lang="bg-BG" dirty="0" smtClean="0"/>
              <a:t>Различни метрики</a:t>
            </a:r>
            <a:endParaRPr lang="en-US" dirty="0" smtClean="0"/>
          </a:p>
          <a:p>
            <a:pPr marL="128270" lvl="1" indent="0">
              <a:buNone/>
            </a:pPr>
            <a:r>
              <a:rPr lang="en-US" dirty="0" err="1" smtClean="0"/>
              <a:t>DataSpell</a:t>
            </a:r>
            <a:r>
              <a:rPr lang="en-US" dirty="0" smtClean="0"/>
              <a:t> + python</a:t>
            </a:r>
            <a:r>
              <a:rPr lang="bg-BG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Решение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bg-BG" dirty="0" smtClean="0"/>
              <a:t>Два отделни </a:t>
            </a:r>
            <a:r>
              <a:rPr lang="bg-BG" dirty="0" err="1" smtClean="0"/>
              <a:t>парсъра</a:t>
            </a:r>
            <a:endParaRPr lang="bg-BG" dirty="0" smtClean="0"/>
          </a:p>
          <a:p>
            <a:r>
              <a:rPr lang="bg-BG" dirty="0" smtClean="0"/>
              <a:t>Помощни методи</a:t>
            </a:r>
            <a:endParaRPr lang="bg-BG" dirty="0" smtClean="0"/>
          </a:p>
          <a:p>
            <a:r>
              <a:rPr lang="bg-BG" dirty="0" err="1" smtClean="0"/>
              <a:t>Дебъг</a:t>
            </a:r>
            <a:r>
              <a:rPr lang="bg-BG" dirty="0" smtClean="0"/>
              <a:t> </a:t>
            </a:r>
            <a:r>
              <a:rPr lang="bg-BG" dirty="0" err="1" smtClean="0"/>
              <a:t>аутпут</a:t>
            </a:r>
            <a:endParaRPr lang="bg-BG" dirty="0" smtClean="0"/>
          </a:p>
          <a:p>
            <a:r>
              <a:rPr lang="bg-BG" dirty="0" smtClean="0"/>
              <a:t>Филтриране на общини</a:t>
            </a:r>
            <a:endParaRPr lang="en-US" dirty="0" smtClean="0"/>
          </a:p>
          <a:p>
            <a:r>
              <a:rPr lang="bg-BG" dirty="0" smtClean="0"/>
              <a:t>Разделяне на </a:t>
            </a:r>
            <a:r>
              <a:rPr lang="en-US" dirty="0" smtClean="0"/>
              <a:t>csv </a:t>
            </a:r>
            <a:r>
              <a:rPr lang="bg-BG" dirty="0" smtClean="0"/>
              <a:t>по метрики</a:t>
            </a:r>
            <a:endParaRPr lang="bg-BG" dirty="0" smtClean="0"/>
          </a:p>
          <a:p>
            <a:r>
              <a:rPr lang="bg-BG" dirty="0" smtClean="0"/>
              <a:t>Обща метрика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471509"/>
            <a:ext cx="2980113" cy="59720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Два различни </a:t>
            </a:r>
            <a:r>
              <a:rPr lang="bg-BG" dirty="0" err="1" smtClean="0"/>
              <a:t>парсъра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29740" y="1990526"/>
            <a:ext cx="5249008" cy="2848373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Филтриране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47335" y="822325"/>
            <a:ext cx="4813817" cy="5184775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Marriages Parser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023938" y="2805130"/>
            <a:ext cx="4754562" cy="298446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Различни файлове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15000" y="976760"/>
            <a:ext cx="5678488" cy="4875905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Анализ на данни</a:t>
            </a:r>
            <a:endParaRPr lang="bg-BG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bg-BG" altLang="en-GB"/>
              <a:t>Брой по години</a:t>
            </a:r>
            <a:endParaRPr lang="bg-BG" altLang="en-GB"/>
          </a:p>
        </p:txBody>
      </p:sp>
      <p:pic>
        <p:nvPicPr>
          <p:cNvPr id="6" name="Content Placeholder 5" descr="total_marriages_and_birth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60550" y="2286000"/>
            <a:ext cx="8046085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bg-BG" altLang="en-US"/>
              <a:t>брой по години</a:t>
            </a:r>
            <a:endParaRPr lang="bg-BG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bg-BG" altLang="en-GB"/>
              <a:t>Градове</a:t>
            </a:r>
            <a:endParaRPr lang="bg-BG" altLang="en-GB"/>
          </a:p>
        </p:txBody>
      </p:sp>
      <p:pic>
        <p:nvPicPr>
          <p:cNvPr id="10" name="Content Placeholder 9" descr="urban_marriages_and_births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24255" y="3449320"/>
            <a:ext cx="4754880" cy="237744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bg-BG" altLang="en-GB"/>
              <a:t>Села</a:t>
            </a:r>
            <a:endParaRPr lang="bg-BG" altLang="en-GB"/>
          </a:p>
        </p:txBody>
      </p:sp>
      <p:pic>
        <p:nvPicPr>
          <p:cNvPr id="11" name="Content Placeholder 10" descr="rural_marriages_and_births"/>
          <p:cNvPicPr>
            <a:picLocks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990590" y="3449320"/>
            <a:ext cx="47548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bg-BG" altLang="en-US"/>
              <a:t>Лаг 5 години</a:t>
            </a:r>
            <a:endParaRPr lang="bg-BG" altLang="en-US"/>
          </a:p>
        </p:txBody>
      </p:sp>
      <p:pic>
        <p:nvPicPr>
          <p:cNvPr id="2" name="Content Placeholder 1" descr="total_lag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24255" y="2561590"/>
            <a:ext cx="9719945" cy="34715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bg-BG" altLang="en-US"/>
              <a:t>ЛАг 5 години</a:t>
            </a:r>
            <a:endParaRPr lang="bg-BG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bg-BG" altLang="en-GB"/>
              <a:t>Градове</a:t>
            </a:r>
            <a:endParaRPr lang="bg-BG" altLang="en-GB"/>
          </a:p>
        </p:txBody>
      </p:sp>
      <p:pic>
        <p:nvPicPr>
          <p:cNvPr id="2" name="Content Placeholder 1" descr="urban_lag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24255" y="3789045"/>
            <a:ext cx="4754880" cy="169799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bg-BG" altLang="en-GB"/>
              <a:t>Села</a:t>
            </a:r>
            <a:endParaRPr lang="bg-BG" altLang="en-GB"/>
          </a:p>
        </p:txBody>
      </p:sp>
      <p:pic>
        <p:nvPicPr>
          <p:cNvPr id="3" name="Content Placeholder 2" descr="rural_lag"/>
          <p:cNvPicPr>
            <a:picLocks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990590" y="3789045"/>
            <a:ext cx="4754880" cy="16979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bg-BG" altLang="en-US"/>
              <a:t>Процент извънбрачни</a:t>
            </a:r>
            <a:endParaRPr lang="bg-BG" altLang="en-US"/>
          </a:p>
        </p:txBody>
      </p:sp>
      <p:pic>
        <p:nvPicPr>
          <p:cNvPr id="2" name="Content Placeholder 1" descr="total_nonmarital_shar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60550" y="2286000"/>
            <a:ext cx="8046085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bg-BG" altLang="en-US">
                <a:sym typeface="+mn-ea"/>
              </a:rPr>
              <a:t>Процент извънбрачни</a:t>
            </a:r>
            <a:endParaRPr lang="bg-BG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bg-BG" altLang="en-GB"/>
              <a:t>Градове</a:t>
            </a:r>
            <a:endParaRPr lang="bg-BG" altLang="en-GB"/>
          </a:p>
        </p:txBody>
      </p:sp>
      <p:pic>
        <p:nvPicPr>
          <p:cNvPr id="2" name="Content Placeholder 1" descr="urban_nonmarital_share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24255" y="3449320"/>
            <a:ext cx="4754880" cy="237744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bg-BG" altLang="en-GB"/>
              <a:t>Села</a:t>
            </a:r>
            <a:endParaRPr lang="bg-BG" altLang="en-GB"/>
          </a:p>
        </p:txBody>
      </p:sp>
      <p:pic>
        <p:nvPicPr>
          <p:cNvPr id="3" name="Content Placeholder 2" descr="rural_nonmarital_share"/>
          <p:cNvPicPr>
            <a:picLocks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990590" y="3449320"/>
            <a:ext cx="47548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предизвикателства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Заключение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732</Words>
  <Application>WPS Presentation</Application>
  <PresentationFormat>Widescreen</PresentationFormat>
  <Paragraphs>72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Tw Cen MT</vt:lpstr>
      <vt:lpstr>Segoe Print</vt:lpstr>
      <vt:lpstr>Wingdings 3</vt:lpstr>
      <vt:lpstr>Symbol</vt:lpstr>
      <vt:lpstr>Calibri</vt:lpstr>
      <vt:lpstr>Tw Cen MT Condensed</vt:lpstr>
      <vt:lpstr>Microsoft YaHei</vt:lpstr>
      <vt:lpstr>Arial Unicode MS</vt:lpstr>
      <vt:lpstr>Integral</vt:lpstr>
      <vt:lpstr>Анализ на връзката между бракове и раждания в българия</vt:lpstr>
      <vt:lpstr>Идея</vt:lpstr>
      <vt:lpstr>PowerPoint 演示文稿</vt:lpstr>
      <vt:lpstr>Обработка на данни</vt:lpstr>
      <vt:lpstr>Сурови данни от нси</vt:lpstr>
      <vt:lpstr>предизвикателства</vt:lpstr>
      <vt:lpstr>Решение</vt:lpstr>
      <vt:lpstr>Два различни парсъра</vt:lpstr>
      <vt:lpstr>Филтриране</vt:lpstr>
      <vt:lpstr>Marriages Parser</vt:lpstr>
      <vt:lpstr>Различни файлове</vt:lpstr>
      <vt:lpstr>Анализ на данни</vt:lpstr>
      <vt:lpstr>PowerPoint 演示文稿</vt:lpstr>
      <vt:lpstr>PowerPoint 演示文稿</vt:lpstr>
      <vt:lpstr>брой по години</vt:lpstr>
      <vt:lpstr>брой по години</vt:lpstr>
      <vt:lpstr>Лаг 5 години</vt:lpstr>
      <vt:lpstr>ЛАг 5 години</vt:lpstr>
      <vt:lpstr>предизвикателства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на корелацията между бракове и раждане</dc:title>
  <dc:creator>Stefani Arabadjieva</dc:creator>
  <cp:lastModifiedBy>Admin</cp:lastModifiedBy>
  <cp:revision>12</cp:revision>
  <dcterms:created xsi:type="dcterms:W3CDTF">2026-06-11T17:56:00Z</dcterms:created>
  <dcterms:modified xsi:type="dcterms:W3CDTF">2026-06-13T18:38:43Z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D8468120E0074BC5A66CF84C746C85B7_12</vt:lpwstr>
  </property>
  <property fmtid="{D5CDD505-2E9C-101B-9397-08002B2CF9AE}" pid="3" name="KSOProductBuildVer">
    <vt:lpwstr>2057-12.2.0.23202</vt:lpwstr>
  </property>
</Properties>
</file>